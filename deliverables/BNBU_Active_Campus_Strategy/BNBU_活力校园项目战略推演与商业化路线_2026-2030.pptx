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b54b1800e94c31" /><Relationship Type="http://schemas.openxmlformats.org/officeDocument/2006/relationships/extended-properties" Target="/docProps/app.xml" Id="R990339389ee54c77" /><Relationship Type="http://schemas.openxmlformats.org/officeDocument/2006/relationships/officeDocument" Target="/ppt/presentation.xml" Id="R8ba2d2f9e2ac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ec651f5bb4626"/>
  </p:sldMasterIdLst>
  <p:notesMasterIdLst>
    <p:notesMasterId xmlns:r="http://schemas.openxmlformats.org/officeDocument/2006/relationships" r:id="R28d2a34015234a2e"/>
  </p:notesMasterIdLst>
  <p:sldIdLst>
    <p:sldId xmlns:r="http://schemas.openxmlformats.org/officeDocument/2006/relationships" id="256" r:id="R63704f96b5c74393"/>
    <p:sldId xmlns:r="http://schemas.openxmlformats.org/officeDocument/2006/relationships" id="257" r:id="R22ea359cd694419c"/>
    <p:sldId xmlns:r="http://schemas.openxmlformats.org/officeDocument/2006/relationships" id="258" r:id="Rac8aac2c41be4c46"/>
    <p:sldId xmlns:r="http://schemas.openxmlformats.org/officeDocument/2006/relationships" id="259" r:id="Rdd3cbac08c02478b"/>
    <p:sldId xmlns:r="http://schemas.openxmlformats.org/officeDocument/2006/relationships" id="260" r:id="Ra6e3ab51e1fe4592"/>
    <p:sldId xmlns:r="http://schemas.openxmlformats.org/officeDocument/2006/relationships" id="261" r:id="R9cf88d48486f4982"/>
    <p:sldId xmlns:r="http://schemas.openxmlformats.org/officeDocument/2006/relationships" id="262" r:id="R3b87de8197864f89"/>
    <p:sldId xmlns:r="http://schemas.openxmlformats.org/officeDocument/2006/relationships" id="263" r:id="Rbcc9e91580cf45df"/>
    <p:sldId xmlns:r="http://schemas.openxmlformats.org/officeDocument/2006/relationships" id="264" r:id="R8ae594badab54db0"/>
    <p:sldId xmlns:r="http://schemas.openxmlformats.org/officeDocument/2006/relationships" id="265" r:id="R2b5e9fd52f8f4508"/>
    <p:sldId xmlns:r="http://schemas.openxmlformats.org/officeDocument/2006/relationships" id="266" r:id="R7d5fb3303cc14b5a"/>
    <p:sldId xmlns:r="http://schemas.openxmlformats.org/officeDocument/2006/relationships" id="267" r:id="R60b62e8bcb784c25"/>
    <p:sldId xmlns:r="http://schemas.openxmlformats.org/officeDocument/2006/relationships" id="268" r:id="R048ca6ebc5b547ff"/>
    <p:sldId xmlns:r="http://schemas.openxmlformats.org/officeDocument/2006/relationships" id="269" r:id="R57173dcb68844b03"/>
    <p:sldId xmlns:r="http://schemas.openxmlformats.org/officeDocument/2006/relationships" id="270" r:id="R20152fd65c0e487d"/>
    <p:sldId xmlns:r="http://schemas.openxmlformats.org/officeDocument/2006/relationships" id="271" r:id="Rf21750e467214dc3"/>
    <p:sldId xmlns:r="http://schemas.openxmlformats.org/officeDocument/2006/relationships" id="272" r:id="Rc75837db8b90487b"/>
    <p:sldId xmlns:r="http://schemas.openxmlformats.org/officeDocument/2006/relationships" id="273" r:id="R2a68ef264e8f4a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b942be90a441d" /><Relationship Type="http://schemas.openxmlformats.org/officeDocument/2006/relationships/slideMaster" Target="/ppt/slideMasters/slideMaster1.xml" Id="Rafdec651f5bb4626" /><Relationship Type="http://schemas.openxmlformats.org/officeDocument/2006/relationships/notesMaster" Target="/ppt/notesMasters/notesMaster1.xml" Id="R28d2a34015234a2e" /><Relationship Type="http://schemas.openxmlformats.org/officeDocument/2006/relationships/presProps" Target="/ppt/presProps.xml" Id="R3366415d3a5347a8" /><Relationship Type="http://schemas.openxmlformats.org/officeDocument/2006/relationships/tableStyles" Target="/ppt/tableStyles.xml" Id="R8a2f444f565943dc" /><Relationship Type="http://schemas.openxmlformats.org/officeDocument/2006/relationships/slide" Target="/ppt/slides/slide1.xml" Id="R63704f96b5c74393" /><Relationship Type="http://schemas.openxmlformats.org/officeDocument/2006/relationships/slide" Target="/ppt/slides/slide2.xml" Id="R22ea359cd694419c" /><Relationship Type="http://schemas.openxmlformats.org/officeDocument/2006/relationships/slide" Target="/ppt/slides/slide3.xml" Id="Rac8aac2c41be4c46" /><Relationship Type="http://schemas.openxmlformats.org/officeDocument/2006/relationships/slide" Target="/ppt/slides/slide4.xml" Id="Rdd3cbac08c02478b" /><Relationship Type="http://schemas.openxmlformats.org/officeDocument/2006/relationships/slide" Target="/ppt/slides/slide5.xml" Id="Ra6e3ab51e1fe4592" /><Relationship Type="http://schemas.openxmlformats.org/officeDocument/2006/relationships/slide" Target="/ppt/slides/slide6.xml" Id="R9cf88d48486f4982" /><Relationship Type="http://schemas.openxmlformats.org/officeDocument/2006/relationships/slide" Target="/ppt/slides/slide7.xml" Id="R3b87de8197864f89" /><Relationship Type="http://schemas.openxmlformats.org/officeDocument/2006/relationships/slide" Target="/ppt/slides/slide8.xml" Id="Rbcc9e91580cf45df" /><Relationship Type="http://schemas.openxmlformats.org/officeDocument/2006/relationships/slide" Target="/ppt/slides/slide9.xml" Id="R8ae594badab54db0" /><Relationship Type="http://schemas.openxmlformats.org/officeDocument/2006/relationships/slide" Target="/ppt/slides/slide10.xml" Id="R2b5e9fd52f8f4508" /><Relationship Type="http://schemas.openxmlformats.org/officeDocument/2006/relationships/slide" Target="/ppt/slides/slide11.xml" Id="R7d5fb3303cc14b5a" /><Relationship Type="http://schemas.openxmlformats.org/officeDocument/2006/relationships/slide" Target="/ppt/slides/slide12.xml" Id="R60b62e8bcb784c25" /><Relationship Type="http://schemas.openxmlformats.org/officeDocument/2006/relationships/slide" Target="/ppt/slides/slide13.xml" Id="R048ca6ebc5b547ff" /><Relationship Type="http://schemas.openxmlformats.org/officeDocument/2006/relationships/slide" Target="/ppt/slides/slide14.xml" Id="R57173dcb68844b03" /><Relationship Type="http://schemas.openxmlformats.org/officeDocument/2006/relationships/slide" Target="/ppt/slides/slide15.xml" Id="R20152fd65c0e487d" /><Relationship Type="http://schemas.openxmlformats.org/officeDocument/2006/relationships/slide" Target="/ppt/slides/slide16.xml" Id="Rf21750e467214dc3" /><Relationship Type="http://schemas.openxmlformats.org/officeDocument/2006/relationships/slide" Target="/ppt/slides/slide17.xml" Id="Rc75837db8b90487b" /><Relationship Type="http://schemas.openxmlformats.org/officeDocument/2006/relationships/slide" Target="/ppt/slides/slide18.xml" Id="R2a68ef264e8f4a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0f838f42140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5cc32d91a4b19" /><Relationship Type="http://schemas.openxmlformats.org/officeDocument/2006/relationships/notesMaster" Target="/ppt/notesMasters/notesMaster1.xml" Id="Rfb8dad0d5617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0fe7d4858243c0" /><Relationship Type="http://schemas.openxmlformats.org/officeDocument/2006/relationships/notesMaster" Target="/ppt/notesMasters/notesMaster1.xml" Id="R362420df4e5740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61908c0dd45e1" /><Relationship Type="http://schemas.openxmlformats.org/officeDocument/2006/relationships/notesMaster" Target="/ppt/notesMasters/notesMaster1.xml" Id="R0c9c3cd8fb7e4f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0023a6f241479e" /><Relationship Type="http://schemas.openxmlformats.org/officeDocument/2006/relationships/notesMaster" Target="/ppt/notesMasters/notesMaster1.xml" Id="R4694dcc2ac68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c533dfef24eee" /><Relationship Type="http://schemas.openxmlformats.org/officeDocument/2006/relationships/notesMaster" Target="/ppt/notesMasters/notesMaster1.xml" Id="Raf087b28403840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ea10375c7d4fd5" /><Relationship Type="http://schemas.openxmlformats.org/officeDocument/2006/relationships/notesMaster" Target="/ppt/notesMasters/notesMaster1.xml" Id="R37dd56e75f83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f00669abfb421e" /><Relationship Type="http://schemas.openxmlformats.org/officeDocument/2006/relationships/notesMaster" Target="/ppt/notesMasters/notesMaster1.xml" Id="Rfdd22f90f3484d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6291af7a3c428c" /><Relationship Type="http://schemas.openxmlformats.org/officeDocument/2006/relationships/notesMaster" Target="/ppt/notesMasters/notesMaster1.xml" Id="R73e7393a5b7044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ac921ea0934e87" /><Relationship Type="http://schemas.openxmlformats.org/officeDocument/2006/relationships/notesMaster" Target="/ppt/notesMasters/notesMaster1.xml" Id="R304baf3b06e540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eaa285f6854ac3" /><Relationship Type="http://schemas.openxmlformats.org/officeDocument/2006/relationships/notesMaster" Target="/ppt/notesMasters/notesMaster1.xml" Id="R14eb3d2f3c0947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5872098a2949a4" /><Relationship Type="http://schemas.openxmlformats.org/officeDocument/2006/relationships/notesMaster" Target="/ppt/notesMasters/notesMaster1.xml" Id="R139ed2bcd8474c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18cd23b7c74389" /><Relationship Type="http://schemas.openxmlformats.org/officeDocument/2006/relationships/notesMaster" Target="/ppt/notesMasters/notesMaster1.xml" Id="R2807874de87945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6f515c649b42c6" /><Relationship Type="http://schemas.openxmlformats.org/officeDocument/2006/relationships/notesMaster" Target="/ppt/notesMasters/notesMaster1.xml" Id="R98db8b6d0d164e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d3e6ed7bc6433b" /><Relationship Type="http://schemas.openxmlformats.org/officeDocument/2006/relationships/notesMaster" Target="/ppt/notesMasters/notesMaster1.xml" Id="Rea0c842334954e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f81a530c4f4de2" /><Relationship Type="http://schemas.openxmlformats.org/officeDocument/2006/relationships/notesMaster" Target="/ppt/notesMasters/notesMaster1.xml" Id="Rc6a69feb1d424f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0339cd43ee4e0a" /><Relationship Type="http://schemas.openxmlformats.org/officeDocument/2006/relationships/notesMaster" Target="/ppt/notesMasters/notesMaster1.xml" Id="R6fa63ac09b0d42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421143e0b949c4" /><Relationship Type="http://schemas.openxmlformats.org/officeDocument/2006/relationships/notesMaster" Target="/ppt/notesMasters/notesMaster1.xml" Id="Raf55f90e8dee45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7fccab035e4604" /><Relationship Type="http://schemas.openxmlformats.org/officeDocument/2006/relationships/notesMaster" Target="/ppt/notesMasters/notesMaster1.xml" Id="Rd4c661ec4f5143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0af731a714e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287ed3d22b4ee0" /><Relationship Type="http://schemas.openxmlformats.org/officeDocument/2006/relationships/slideLayout" Target="/ppt/slideLayouts/slideLayout1.xml" Id="R1d52ceafa424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52ceafa424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a824392624421" /><Relationship Type="http://schemas.openxmlformats.org/officeDocument/2006/relationships/notesSlide" Target="/ppt/notesSlides/notesSlide1.xml" Id="R26e64499afa143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89d08967748d7" /><Relationship Type="http://schemas.openxmlformats.org/officeDocument/2006/relationships/notesSlide" Target="/ppt/notesSlides/notesSlide2.xml" Id="R23df9a6620e0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0cdce739944d2" /><Relationship Type="http://schemas.openxmlformats.org/officeDocument/2006/relationships/notesSlide" Target="/ppt/notesSlides/notesSlide3.xml" Id="R3730a5e6f24e46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7fb17e7494460" /><Relationship Type="http://schemas.openxmlformats.org/officeDocument/2006/relationships/notesSlide" Target="/ppt/notesSlides/notesSlide4.xml" Id="R4c007cf452554f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a75cdb09f4554" /><Relationship Type="http://schemas.openxmlformats.org/officeDocument/2006/relationships/notesSlide" Target="/ppt/notesSlides/notesSlide5.xml" Id="R9da273a1421148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0b753428342a8" /><Relationship Type="http://schemas.openxmlformats.org/officeDocument/2006/relationships/notesSlide" Target="/ppt/notesSlides/notesSlide6.xml" Id="Rc44d9c205d0a44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d50cb8f4d4cd6" /><Relationship Type="http://schemas.openxmlformats.org/officeDocument/2006/relationships/notesSlide" Target="/ppt/notesSlides/notesSlide7.xml" Id="R4fe484bdc71642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cb0d657424ecd" /><Relationship Type="http://schemas.openxmlformats.org/officeDocument/2006/relationships/notesSlide" Target="/ppt/notesSlides/notesSlide8.xml" Id="R032088e54950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4a787186e42a9" /><Relationship Type="http://schemas.openxmlformats.org/officeDocument/2006/relationships/notesSlide" Target="/ppt/notesSlides/notesSlide9.xml" Id="Rc633d62aad9f47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781181e664b77" /><Relationship Type="http://schemas.openxmlformats.org/officeDocument/2006/relationships/notesSlide" Target="/ppt/notesSlides/notesSlide10.xml" Id="Rb5f90ef45cda4e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cca9c6ece4bc9" /><Relationship Type="http://schemas.openxmlformats.org/officeDocument/2006/relationships/notesSlide" Target="/ppt/notesSlides/notesSlide11.xml" Id="R28aed8a94c7547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e7cc37f0f4590" /><Relationship Type="http://schemas.openxmlformats.org/officeDocument/2006/relationships/notesSlide" Target="/ppt/notesSlides/notesSlide12.xml" Id="Ra142a9df1b2b42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2d38dd5254eca" /><Relationship Type="http://schemas.openxmlformats.org/officeDocument/2006/relationships/notesSlide" Target="/ppt/notesSlides/notesSlide13.xml" Id="R6efb60f05da243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cd56b324b4ddb" /><Relationship Type="http://schemas.openxmlformats.org/officeDocument/2006/relationships/notesSlide" Target="/ppt/notesSlides/notesSlide14.xml" Id="R9bd28a6408aa4b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bb9c9ea6a4f2e" /><Relationship Type="http://schemas.openxmlformats.org/officeDocument/2006/relationships/notesSlide" Target="/ppt/notesSlides/notesSlide15.xml" Id="R538c4a24154b40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ff36ecb0a48d6" /><Relationship Type="http://schemas.openxmlformats.org/officeDocument/2006/relationships/notesSlide" Target="/ppt/notesSlides/notesSlide16.xml" Id="R870ae54c778e45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306a885934e2a" /><Relationship Type="http://schemas.openxmlformats.org/officeDocument/2006/relationships/notesSlide" Target="/ppt/notesSlides/notesSlide17.xml" Id="Rb7401553677144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def26a43b4594" /><Relationship Type="http://schemas.openxmlformats.org/officeDocument/2006/relationships/notesSlide" Target="/ppt/notesSlides/notesSlide18.xml" Id="Rab97475b8b084e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F24E4-3C07-40E1-AB31-A2FF98E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09796-1444-4496-BF6A-24E6102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9BC4C-4281-443F-BCCB-2E67DC4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0"/>
            <a:ext cx="3771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150C6-9A53-44F2-8676-0AE39750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/ STRATEGY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EF01B-D733-4005-B214-BA87A85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7810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体育打卡不是终点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08E82-988B-45EA-A5C0-A302F130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733425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我们要做校园主动健康的数字基础设施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BA47D-BA17-497C-8984-94E8D86C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7524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Active Campus OS × Active Campus Evidence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BBFA5-B3FB-4823-B8AA-96881178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7048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从伯克利触发，在北师港浸验证，向大湾区复制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3EBF3-B134-4193-BE17-89C07D9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762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商业化 · 中国最新政策 · 能力迁移 · 硬件 · 科研 · 区域与加州资源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CC5FD-A771-41A8-9F2B-72D1D3E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066800"/>
            <a:ext cx="23431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7E7DA-A654-482C-B2C2-B41A199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466850"/>
            <a:ext cx="17907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ACTIVE
CAMPUS
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6F415-49D7-4B14-BA99-C1F31C9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2266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内部讨论稿
截至 2026-07-14</a:t>
            </a:r>
          </a:p>
        </p:txBody>
      </p:sp>
    </p:spTree>
    <p:extLst>
      <p:ext uri="{BB962C8B-B14F-4D97-AF65-F5344CB8AC3E}">
        <p14:creationId xmlns:p14="http://schemas.microsoft.com/office/powerpoint/2010/main" val="13815089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3530E-9408-491B-A0F1-DADD5738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UCB让我们看到：稀缺的不是打卡工具，而是健康成为日常的环境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0B332-9F60-4F22-8D2A-5232D19D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ORIGIN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16402-C022-4CD3-9922-F19E3C21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A0CB2-9C76-48E6-91EE-B9DC6B3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8253D-3487-4902-AD15-9D363B59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087D4-8DAB-4D93-8040-996F80F4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4095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每个人似乎都很注重身体健康。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95377-D4EA-4569-90B0-F6F5796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000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在伯克利健身房，运动氛围与学生自驱力互相强化。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C689B-A647-4D77-9492-6248CA02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00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这不是要复制UCB，而是要形成适合中国高校的主动健康模式。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EE679-D829-40FD-B6EF-56AD539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57816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551CF-3058-4810-A0C9-E4C17D03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1C989-F50D-43B9-89D5-8A6D551B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01  氛围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12159-3010-40A7-96E9-FA9B119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53244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看到活动、同伴参与和场馆状态，运动变得可见。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764A9-38DF-4926-990E-4A97F80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57816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6AF53-C6EB-47BE-B3A8-A9512BC6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3F5CB-3F3D-46C4-B491-A989C63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02  选择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EFC35-599F-44B8-A7AD-F5A9D0D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53244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内容、赛事与错峰信息降低第一次行动的门槛。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BD3CE-0393-436D-A30B-A526945F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578167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90A45-79C1-490D-A943-27CD2664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7DBB8-0A4D-4EA8-8769-2B5BA1B4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9580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03  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43BB9-E15A-48C3-B0D8-62EE26F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53244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个人成长与校园证据形成正循环，而不是只核验任务。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176D8-9001-4CAE-8EC5-13A151B2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洞察来源：UCB健身房现场体验；本项目目标是本土化转译，而非照搬。</a:t>
            </a:r>
          </a:p>
        </p:txBody>
      </p:sp>
    </p:spTree>
    <p:extLst>
      <p:ext uri="{BB962C8B-B14F-4D97-AF65-F5344CB8AC3E}">
        <p14:creationId xmlns:p14="http://schemas.microsoft.com/office/powerpoint/2010/main" val="12026699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8B3C21-0A79-429D-AD8D-E05BF858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现有App已经具备执行底座，不需要从零重做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CA33E-33EB-4703-9A89-9AF572A0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BASELINE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706B1-7FE1-4CC2-B10F-63AF081B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55833-ABBD-4F91-BDD9-BBBEA88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3562350" cy="3943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BF47A-43E5-477C-BB87-D4D1A329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866F3-B700-4269-8FA4-6B5D746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7145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已经有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8B4D5-12D0-4560-A895-9933936B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47900"/>
            <a:ext cx="31051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登录与真实接口
课程 / 打卡 / 成绩
通知 / 请假 / 任务闭环
媒体上传与本地缓存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2FE9C-420B-4F27-ADD6-8B54EC6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504950"/>
            <a:ext cx="3562350" cy="3943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DBEDF-BB65-4B3B-9875-C768F783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5049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6154-6FE6-4B07-B42C-A13A846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17145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B063A-53C5-4085-B4C0-9D7DB89B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2247900"/>
            <a:ext cx="31051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活力校园首页
活动聚合与报名
教师知识资产
场馆实时状态
研究同意与管理后台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F343F-45D0-447F-AF7D-A7ABEEF5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504950"/>
            <a:ext cx="3562350" cy="3943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CE8E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D4D37-A934-4A85-82BB-F37C57B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5049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C4AB9-8EBD-4346-892F-786D205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17145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上线前红线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1C34A-1745-46BC-9DA9-D8766E7E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2247900"/>
            <a:ext cx="31051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生产HTTPS与权限隐患
研究 / 运营数据隔离
多校规则配置化
自动化测试与审计
隐私文案一致性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A49C7-1ECA-4CCE-B7A6-30F3CAFC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代码审计结论：当前产品适合作为执行引擎扩展，但尚不是多校、科研与硬件平台。</a:t>
            </a:r>
          </a:p>
        </p:txBody>
      </p:sp>
    </p:spTree>
    <p:extLst>
      <p:ext uri="{BB962C8B-B14F-4D97-AF65-F5344CB8AC3E}">
        <p14:creationId xmlns:p14="http://schemas.microsoft.com/office/powerpoint/2010/main" val="21015200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4B83C4-998A-4722-A35C-B0F5287B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四种场景比较后，交易平台与硬件自营都不应成为主线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2B75D-259A-481C-B989-8F23CB7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CHOICE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1FF65-6A95-4450-945B-84ED87F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E1E89-2AD1-437E-BE0C-50620499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538162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AF450-C18D-41DF-8FC9-CD8F42C2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714500"/>
            <a:ext cx="49244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A  强化打卡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F4609-A3F8-4659-9976-9BCA5E4B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47900"/>
            <a:ext cx="49244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落地容易｜价值上限低
仍是合规工具，难形成独特资产。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C4032-3330-4BF7-A08E-5F493FD1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04950"/>
            <a:ext cx="578167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1D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29BBC-4D03-4A1C-AA6D-F3BF1AD6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0495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A2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4634E-9782-45F3-BB2E-64F99C51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B  校园交易平台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90FB8-88EA-4E9E-ABBE-36D957F7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2447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频次低｜关系复杂｜抽佣阻力大
学校很少存在适合平台收双方服务费的场景。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69A81-A5F0-4A4F-B461-1945CAD2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67100"/>
            <a:ext cx="538162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CE8E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B0BEE-34A3-47E8-A764-6E47A41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671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F2A24-0BB0-411B-9569-45A8BC0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3676650"/>
            <a:ext cx="49244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C  自营智能硬件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3E653-10E0-4FB0-93A8-AB15420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4210050"/>
            <a:ext cx="49244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资本重｜维护重｜验证周期长
容易拖累软件、内容与研究主线。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BA428-74CC-4A66-939E-36DCD65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67100"/>
            <a:ext cx="578167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2810C-9B4D-4109-A722-476C142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671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29693-1E84-4244-9AD9-359365C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  Active Campus OS + Evidence 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1C6F5-17E9-4466-A6CF-F0D16A78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532447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现有能力匹配｜政策匹配｜付费方清晰
从运营价值走向科研证据与可复制交付。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3E5CD-0A5A-4A39-9FF4-19E175E3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295900"/>
            <a:ext cx="2571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最终选择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31B27-3FEC-49F9-83EA-A656AF2E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判断维度：现有代码复用、客户预算、资本强度、政策匹配、证据可验证性。</a:t>
            </a:r>
          </a:p>
        </p:txBody>
      </p:sp>
    </p:spTree>
    <p:extLst>
      <p:ext uri="{BB962C8B-B14F-4D97-AF65-F5344CB8AC3E}">
        <p14:creationId xmlns:p14="http://schemas.microsoft.com/office/powerpoint/2010/main" val="19609046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292AC-917F-4EAB-892A-0492951B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最终方向是 Active Campus OS + Evidence Lab 双轮驱动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C00C9-9E47-4B58-B29F-0DF2AF1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DIRECTION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4D7CF-5080-4026-98C4-94EF0026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2501A-71B1-4472-A195-57A04CA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476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D58CA-77FB-485C-84EF-8E10B11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819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22844-1A07-4BFD-B349-15CB9E9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543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Active Campus 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912BE-859B-4981-A3E8-95AE0D8F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3524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连接学生、教师、活动和场馆
负责日常运营与服务体验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6DB95-5607-4C24-B0E8-8C240769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E517C-0668-4131-8234-3F3A7EE3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476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59642-ED8D-4C97-96DF-6FEEC86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819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8BC2B-D2B4-4AB9-BB93-33C96A24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3524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Evidence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4E287-F69F-4287-8976-E44FAEB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3524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连接同意、指标、实验和报告
负责科研证据与管理决策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A0550-F90E-4BE7-86B4-DA69765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11010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130FA-C617-44A9-83EA-8F654AF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9700"/>
            <a:ext cx="10458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知道活动  →  参与运动  →  形成习惯  →  验证改善  →  复制方法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1A377-308C-4A8F-9047-CF7477CE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一句话：把一次打卡升级为校园主动健康的运营系统与证据系统。</a:t>
            </a:r>
          </a:p>
        </p:txBody>
      </p:sp>
    </p:spTree>
    <p:extLst>
      <p:ext uri="{BB962C8B-B14F-4D97-AF65-F5344CB8AC3E}">
        <p14:creationId xmlns:p14="http://schemas.microsoft.com/office/powerpoint/2010/main" val="7851915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47CF4-812D-4967-B336-BA86161A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四个产品引擎共同把一次打卡变成长期健康行为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E2D0F-D799-4DA6-8D95-8BB293B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PRODUCT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AD887-8CC8-4170-B488-7E285CFE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9587B-2B6D-4445-9090-0283477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5381625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4409D-9B09-4C32-95C8-2F536A9D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7BD21-1849-4F00-86A3-10345E57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676400"/>
            <a:ext cx="49244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F9492-512F-46AC-9C02-ECCA3A4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09800"/>
            <a:ext cx="49244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教师审核的训练内容、课程与校园知识资产；
可参考 SmartWorkout 的结构化训练体验。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A81A5-2D5A-4207-A827-4FCF0622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5781675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400E9-F6F2-4FC0-BB9D-9A117B96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AB0AF-5F5C-44B0-A9C7-2E48552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活动引擎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4660B-B43B-4E2C-89A1-C1F150C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53244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聚合篮球、羽毛球等赛事，完成发现、报名、提醒、到场与复盘。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34FBB-2792-4D9A-B749-4D6F604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524250"/>
            <a:ext cx="5381625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63F2B-0496-4974-ABC4-BD552BA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5242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045E8-2268-4489-8510-9B83031E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3733800"/>
            <a:ext cx="49244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场馆引擎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E6FCE-24A4-4969-BF00-BDDBE63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4267200"/>
            <a:ext cx="49244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呈现实时人数、开放状态、拥挤趋势和最佳到访时间，推动错峰。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C26CC-8C06-44CB-B56D-6055773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5781675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99B82-9477-4A8B-A8F6-6E469B5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7EABC-B57E-448F-9512-7E64867C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53244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证据引擎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98AC9-7D52-4C23-AEC1-3D62316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53244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追踪参与、行为、场馆效率与干预效果，支持校级研究和政策验收。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95609-155B-4986-B879-7D21EC98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四个引擎共享身份、规则、数据字典和同意机制，前台统一、后台模块化。</a:t>
            </a:r>
          </a:p>
        </p:txBody>
      </p:sp>
    </p:spTree>
    <p:extLst>
      <p:ext uri="{BB962C8B-B14F-4D97-AF65-F5344CB8AC3E}">
        <p14:creationId xmlns:p14="http://schemas.microsoft.com/office/powerpoint/2010/main" val="10742362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7C9725-C3E2-4071-AB18-D166379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只有同时为四类主体创造价值，项目才可能持续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9E5AD-A1F0-4D3C-B7E2-B323325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VALUE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F7DBB-F6E5-482F-A195-20B08A9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46B84-3343-42AB-B67C-854BC217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43050"/>
            <a:ext cx="2647950" cy="36766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836AD-7374-44BF-BC5C-95A31B4B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430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34FD7-5A59-46F6-9F66-22CD761F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75260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E180E-48D9-4FAA-A581-E4C1F9D5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86000"/>
            <a:ext cx="21907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更低门槛的运动选择
实时场馆与活动信息
可理解的成长反馈
无惩罚、可退出的路径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38FB9-788D-49A4-BB8E-EA09638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2647950" cy="36766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D202A-F5F1-45B6-8013-FDAAE2ED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23BDC-8636-4178-A60B-E3B9A57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 / 研究者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1A822-326A-4303-A135-3D29E25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907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发布与更新内容
设计干预与对照
沉淀署名知识资产
形成报告与论文证据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94F64-6E82-4B1F-A83E-5F9838A8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43050"/>
            <a:ext cx="2647950" cy="36766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C884C-CDE9-4F71-B03A-4DA9248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430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BF671-F71C-4D94-80DD-D104EDB0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学校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2DE9E-1912-47C8-ACAA-CC090A2D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21907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健康治理看板
跨部门协同与评估
特色宣传与人才培养
可复核的政策成效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5BEA6-6877-43C3-A89B-2576A00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43050"/>
            <a:ext cx="2686050" cy="36766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1E5E4-2916-4E77-BD3A-E8089400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430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A2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C1EB2-841C-4074-A92C-E09B4D75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526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场馆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1202F-7915-4233-819D-1E5DB203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22288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客流预测与错峰引导
预约 / 门禁联动
设备利用率改善
投诉与人工成本下降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F8959-9234-41D6-8B24-EB1B4C38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67350"/>
            <a:ext cx="11401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1F602-C979-4D63-BB39-07F3BC7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3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付费逻辑：学生获得服务，学校与场馆购买治理效果，教师与科研共同创造证据。</a:t>
            </a:r>
          </a:p>
        </p:txBody>
      </p:sp>
    </p:spTree>
    <p:extLst>
      <p:ext uri="{BB962C8B-B14F-4D97-AF65-F5344CB8AC3E}">
        <p14:creationId xmlns:p14="http://schemas.microsoft.com/office/powerpoint/2010/main" val="10024859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44C2C-7617-45FF-AB4C-5AABD5E9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可迁移的是能力栈，不是把体育打卡页面复制到别的行业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6E213-FC44-472F-AAEA-6E79CBDD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TRANSFER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DCCAF-D74E-4A71-854B-B90151D2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1DD11-C6AC-4FB3-8E17-BF42E077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6FB01-3D41-492E-8463-A40608B7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80F01-40E5-492C-977B-6A309085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20002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身份 · 权限 · 同意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43ADD-D1E0-4849-8FF5-0730143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90775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8A653-BFC3-471B-8419-A9FF314D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24384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 · 任务 · 通知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7F8E3-B595-4C15-BB8A-9B80A3CB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28925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04CFC-5286-45C7-A7CE-D9780DB7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28765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 · 活动 · 激励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1CDE-B912-42EE-A7D7-CF51E51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67075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57FA7-8086-4352-853A-64959EAD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33147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感知 · 预测 · 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5D709-96DE-4D79-9BCD-2312EE9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05225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40ADF-68AF-4F84-B03B-DDCF7CEC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37528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 · 指标 · 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6E600-BE69-46C3-8420-7CF42EC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43375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2F066-1988-4E90-9FF4-11B6BDF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" y="41910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多租户 · 接口 · 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685E5-E0DB-4017-8537-E0F33CEA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895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7F297-78F5-4126-9DA1-2A3986C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3333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6FE37-CC47-4AF2-A929-CF6DFD0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287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公共体育场馆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90241-A4E6-4B6A-B74F-EBAC7AA4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28850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全民健身｜客流与服务效率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5C53F-85B7-42B5-A15A-8D3FD89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85900"/>
            <a:ext cx="3619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54376-BCBF-4A0F-A367-F0120443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青少年体育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E98A5-5D7C-42B3-A5A3-0D59260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健康学校｜内容与活动闭环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98285-613C-41AF-8F55-635782F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3333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B3BAB-4B0D-43BF-AECC-4BD56B0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87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社区主动健康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6F5E8B-C920-4C45-ACAE-70174398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健康中国｜非医疗健康促进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DBA74-24B0-4BD2-B6E0-656E4E4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619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D57574-C5F8-4799-90FF-A566CDCC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职工主动健康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91ACE-4F39-413A-9B25-EC92F991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16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健康优先｜组织参与与场景运营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19027-BA75-46F8-A323-71C2397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716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5176FC-A6AD-4D07-B46D-D952390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进入新业务的四个门槛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DD291-3E8D-45E1-B112-A59FD46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95850"/>
            <a:ext cx="6619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政策契合  ×  明确付费方  ×  数据权利清晰  ×  成效可量化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19C846-9AF7-4C9E-8E80-FD9BEA17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医疗、养老等高风险领域只通过具备资质的专业伙伴进入，不把校园模型直接外推。</a:t>
            </a:r>
          </a:p>
        </p:txBody>
      </p:sp>
    </p:spTree>
    <p:extLst>
      <p:ext uri="{BB962C8B-B14F-4D97-AF65-F5344CB8AC3E}">
        <p14:creationId xmlns:p14="http://schemas.microsoft.com/office/powerpoint/2010/main" val="176785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E7D3A-407C-4ABE-AAD2-07051E1B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03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2026年政策已从“鼓励运动”升级为“健康优先、数智赋能、证据验收”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F8E84-1234-436A-8C17-8DE2F490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POLICY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DD74F-2708-43A9-BE5B-D4AC335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4A8B1-5E5B-4233-9998-05867D8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4185E-86F7-45C0-8B19-A7F8299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4EA04-359D-455B-8C05-06954D0D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097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健康优先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6B15-05F7-48E4-AAD6-7B1B8E25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09700"/>
            <a:ext cx="84772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“十五五”总纲及健康规划把青少年运动、公共健身和全生命周期健康放在更高位置。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1200150" y="2076450"/>
            <a:ext cx="103060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F9A25-0473-4E04-A140-5C94698A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145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F447B-4FCE-452D-B975-37230D9B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02AE8-A569-4C2F-8B13-5723583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跨部门协同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E6D37-934F-4115-B811-8186E28C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76475"/>
            <a:ext cx="84772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教育、体育、卫生和数据治理共同进入同一条价值链，产品不能只服务单一部门。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200150" y="2943225"/>
            <a:ext cx="103060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088AF-F5FB-4A8F-B496-C429CAFD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CC84C-A3ED-46B5-8555-FB6DB027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2ABED-8351-4A1C-9569-EFC0475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从完成到改善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220A5-23F1-41CA-A2CB-A9C81BD4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84772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学生体质与健康学校行动要求过程、结果和持续行为，不再只看一次性打卡。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200150" y="3810000"/>
            <a:ext cx="103060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55E25-BCFE-457E-9611-7064905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2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52C2C-ABAB-4C77-85BB-195357A6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BA7D6-5330-470B-BF4A-4A4FCEFF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数智与标准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10252-3574-455D-8F33-4EBD5C5A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0025"/>
            <a:ext cx="84772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“人工智能+教育”“数据要素×”与TY/T 1010—1012—2026推动可比较、可复制服务。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1200150" y="4676775"/>
            <a:ext cx="103060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95B2E-E085-4350-A85D-7E19C704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C5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E2B20-FDCA-4020-A26F-E59EC357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58342-0CCC-44C3-B0C4-887ABEF4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可信治理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EED49-020C-441F-9666-75367453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84772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个人信息、人脸识别、研究伦理与跨境数据规则决定项目能否长期扩张。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1200150" y="5543550"/>
            <a:ext cx="103060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893A1-FB8E-4F97-A3CE-8691031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官方依据：国家“十五五”规划纲要、健康/体育/教育“十五五”规划及教育部、体育总局、国家数据局2025—2026文件。</a:t>
            </a:r>
          </a:p>
        </p:txBody>
      </p:sp>
    </p:spTree>
    <p:extLst>
      <p:ext uri="{BB962C8B-B14F-4D97-AF65-F5344CB8AC3E}">
        <p14:creationId xmlns:p14="http://schemas.microsoft.com/office/powerpoint/2010/main" val="3787354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18C95-3AF2-4A5C-BEFB-C08745D3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政策红利落在四类人身上，也重新定义了他们的责任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F57E2-2CD9-48B5-8A1E-C8A07C09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IMPACT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A3AE1-3681-491D-B2F1-68C903D7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8D13C-FE9E-4E78-8659-4A2DCC1A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2647950" cy="33337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3806-49B6-4D0C-8D49-A2A1811A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0743-18B7-47A8-A338-083FDB47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71450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学生与家庭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E95F1-FF6F-4C3D-BD6E-867D1A71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47900"/>
            <a:ext cx="2190750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得到更公平、持续、可理解的健康支持。
责任：自主选择、知情同意与反馈。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95B65-A8DC-481D-8346-2D03863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04950"/>
            <a:ext cx="2647950" cy="33337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CD769-8926-4501-9E7B-D3D23EC1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F0A46-131F-4816-B44B-EC0267D6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学校 / 教师 / 场馆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4DAF4-ECFC-40E1-8FAB-7EBBD84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2190750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从人工核验走向数据辅助的精细运营。
责任：解释、申诉、内容审核与安全。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6E56A-CA23-46D2-86A2-FD038F85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04950"/>
            <a:ext cx="2647950" cy="33337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8CA97-1AAF-4BFF-8FF9-FBC8B0C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16D37-E6B2-4509-BD1F-E0FB3D9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政府与公共机构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40828-91B5-42F7-ABAE-33A3191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47900"/>
            <a:ext cx="2190750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需要可比较的治理证据和服务标准。
责任：公开方法、可审计指标与采购成效。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E2C53-C066-477A-ABAA-BB217FC2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04950"/>
            <a:ext cx="2686050" cy="33337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1D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3B4E6-E824-409D-97D6-DA3C9B8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049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A2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C27D9-8EBD-416C-84FD-F9B6A1EF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企业与研究机构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EEB04-2222-4739-ABC6-C2341288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2228850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获得场景机会，但必须证明有效与合规。
责任：互操作、利益冲突披露、不得售卖健康数据。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C9EE0-D789-4D62-B2DD-372D2BD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05400"/>
            <a:ext cx="114014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41E3F-3A38-4B88-A56B-03CFFEAE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57800"/>
            <a:ext cx="109251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平台责任：选择自由｜最小化采集｜解释与申诉｜研究和运营隔离｜不做黑箱评分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E36B5-85C2-46FC-8561-EEDE546D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政策不是宣传口号，而是产品责任、采购验收和研究边界。</a:t>
            </a:r>
          </a:p>
        </p:txBody>
      </p:sp>
    </p:spTree>
    <p:extLst>
      <p:ext uri="{BB962C8B-B14F-4D97-AF65-F5344CB8AC3E}">
        <p14:creationId xmlns:p14="http://schemas.microsoft.com/office/powerpoint/2010/main" val="5350011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3C03D-0B62-4ABA-A679-66C0EFC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我们能为中国提供的不是更多数据，而是一套可验证的方法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A6297-F0F8-46CB-BEF6-DA4A9644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09BF1-7C8D-48CE-A0AB-A1ACE7CE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2E8FE-D981-426C-8A60-7DD45583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3562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F9E82-AC7A-4CB1-8148-FCAB8C3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6383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01  从强制到自驱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3619B-28A3-42B0-A911-5E19CC8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171700"/>
            <a:ext cx="3105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用活动、内容和环境反馈提升学生终身运动能力。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2C5E7-26B0-4F03-911E-3FBDC422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428750"/>
            <a:ext cx="3562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1D28D-B802-401F-A67C-ADBD067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16383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02  中国知识资产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F0660-4566-4AB2-94AD-9880407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2171700"/>
            <a:ext cx="3105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把教师经验沉淀为可署名、可审校、可复用内容。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E831B-EB35-470F-88B1-653C243F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428750"/>
            <a:ext cx="3562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38FB0-6409-4104-A18C-504ACD25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16383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03  一校一策证据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366B3-B414-4B79-B5A7-6E52DEE5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2171700"/>
            <a:ext cx="3105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回答什么干预对什么学生、在什么条件下真正有效。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39ED4-292B-42EE-8772-A9BDC07F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3562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C6A07-A58C-439B-8B6A-004AF28B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36957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04  场馆效率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BF088-6453-491D-8FF6-63B1DED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4229100"/>
            <a:ext cx="3105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以拥挤预测、错峰与设备利用率提升公共资源效能。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829F8-4633-488D-A051-B2479954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3486150"/>
            <a:ext cx="3562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EFFCB-7D9D-40C3-9F39-703A9EEE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36957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05  标准与治理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C003-7AFE-487E-9E7A-45B6762F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4229100"/>
            <a:ext cx="3105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形成指标、接口、伦理、隐私和可退出的校园范式。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E4B31-3A42-46FA-8F92-FEC964F5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3486150"/>
            <a:ext cx="3562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BAF1A-06CC-4379-83AC-050AB134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36957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06  人才与复制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D974E-94DD-4604-9939-C82A2018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4229100"/>
            <a:ext cx="3105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培养体育×数据×运营人才，把验证过的方法服务更多校园。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E7E11-4045-4240-8337-8BDD3920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建议用可审计承诺替代宏大口号：参与率、持续率、场馆效率、内容复用、研究质量与隐私事件均可测量。</a:t>
            </a:r>
          </a:p>
        </p:txBody>
      </p:sp>
    </p:spTree>
    <p:extLst>
      <p:ext uri="{BB962C8B-B14F-4D97-AF65-F5344CB8AC3E}">
        <p14:creationId xmlns:p14="http://schemas.microsoft.com/office/powerpoint/2010/main" val="1385152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60D62-E5C7-4B76-915C-B4CA237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硬件应成为开放感知层，而不是项目的成本中心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27F78-1B5A-4031-A053-8C74D1B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HARDWARE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C5F28-C026-4A54-A8B4-E587F590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4400" y="3638550"/>
            <a:ext cx="103346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23866-8984-4D75-8048-B7792BAC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571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9D5B6-A7BE-42C9-BDD4-49CE2C6E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838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C8EBC-AA8C-4190-907F-2666B51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71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接入既有数据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0AD03-EED9-48E7-AC7D-215DDAF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17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门禁 / 预约 / 人工流量
先验证需求与数据质量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4BFA8-9A8A-4CBE-82A1-71B9CAD2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9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48FD7-9B41-4761-94A9-3DD7B20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57650"/>
            <a:ext cx="1162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8D8E0-5D46-454A-A9A4-1CAAAF93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24375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0—3月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6346A-AEC5-4CD5-ADB9-2A55C30D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62100"/>
            <a:ext cx="2571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55C8F-C6FB-4069-B40A-638530E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43075"/>
            <a:ext cx="838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B5A79-C6AD-4771-BAC3-BB7D07E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33600"/>
            <a:ext cx="2171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非人脸客流试点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7F904-9CC5-4009-9A08-EBF6A374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86050"/>
            <a:ext cx="217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小范围传感器
验证准确率与维护成本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E5106-5548-4267-880D-15D535A8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9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48308-6A64-4FF5-AB7B-8CC7C864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57650"/>
            <a:ext cx="1162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E060B-B67F-40BE-87EF-8A4CCCC9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3—12月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6130F-1890-444C-B6AF-5DF056F5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2571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BD12B-68D1-4B8F-A78C-26C3A70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43075"/>
            <a:ext cx="838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9B72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A329F-03D6-424E-8F60-1A979C3A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2171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预测与设备状态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BFD10-A061-48C3-852A-85DA4872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217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拥挤趋势 / 设备占用
形成调度与错峰价值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69D8E-296B-4CC3-B61D-D51BFE3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9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234E8-0002-40EA-BC12-ACA5F159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57650"/>
            <a:ext cx="1162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E9B72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68ED4-8991-4921-87B9-FE49A714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12—24月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47902-1D70-4A9D-AE76-B4D3415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562100"/>
            <a:ext cx="2571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EF64D-9912-4B81-B855-5C55DA18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743075"/>
            <a:ext cx="838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94348-FD5D-455B-8B0A-6B7EA31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33600"/>
            <a:ext cx="2171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多场景标准接口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97C1E-72A3-437F-88C4-62A0499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86050"/>
            <a:ext cx="217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合作交付 / 网关适配
平台掌握模型与标准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71F408-7B8F-4C22-BB8C-5B1D0A4C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9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14717-44AB-413F-9FA6-C2190D85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57650"/>
            <a:ext cx="1162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155C4E-73AA-4181-8283-243CDEAF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24375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24月以后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B04FF9-98B2-4EAF-9E02-47908B54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09251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8E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C0F8F-0DA2-42C9-A650-5D222D7D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429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t>不做人脸默认方案｜不自建供应链｜不把硬件采购当收入幻觉｜两轮准确率低于85%就换数据源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12A190-9CAE-4C2B-8B4F-CBC3E121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原则：软件先证明价值，硬件由需求牵引；开放接口与合作交付优先。</a:t>
            </a:r>
          </a:p>
        </p:txBody>
      </p:sp>
    </p:spTree>
    <p:extLst>
      <p:ext uri="{BB962C8B-B14F-4D97-AF65-F5344CB8AC3E}">
        <p14:creationId xmlns:p14="http://schemas.microsoft.com/office/powerpoint/2010/main" val="957873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48437-9FDA-4823-A8A4-27099B26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商业化的核心是 B2B2C 年费服务，而不是校园交易抽佣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C028-2648-4386-A3B6-4192C5D8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BUSINESS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9B011-852F-4084-ADE5-C104420C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7A988-B136-4766-9E3D-BADB3973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35623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3379F-84F5-4019-AA3B-90EA366A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76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CCFD2-FF07-41DF-8130-D29F471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7145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基础年费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A38A9-3607-4563-9312-39ECC20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47900"/>
            <a:ext cx="31051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学校按校区、人数和模块购买软件与运营服务。
学生端保持免费。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CCC1D-BE0A-4BB1-A862-EA3291DB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504950"/>
            <a:ext cx="35623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42169-C718-4213-BE9C-F1AFC3B8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504950"/>
            <a:ext cx="76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C963D-1A1B-4E19-AB4F-9A040787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17145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实施与集成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EBA3E-C946-4061-8CFC-EC8047E3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2247900"/>
            <a:ext cx="31051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SSO、门禁、课表、活动和硬件网关按工作量定价。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82403-B30D-4346-8680-27FF4408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504950"/>
            <a:ext cx="35623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9733-F48A-4E39-9C80-39A6C1F5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504950"/>
            <a:ext cx="76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C4755-9DB5-4C00-A584-CFF59188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171450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内容与研究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4022D-6340-46C3-A54F-65454C9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2247900"/>
            <a:ext cx="31051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教师内容共建、评估报告、伦理与科研项目形成增值收入。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AA97E-7644-4DE7-B33E-F6E56ED3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成熟期收入结构目标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A8CB8-9DCE-4A44-BA3C-31A81527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05350"/>
            <a:ext cx="6648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BEDC1-588F-428E-A241-1573A90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18" y="4705350"/>
            <a:ext cx="2771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2779D-C27B-4166-8B38-099C86D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893" y="4705350"/>
            <a:ext cx="1981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E9B7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B52C7-FD6E-47C7-8124-B55CB95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00600"/>
            <a:ext cx="63055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 + 维护 ≥ 60%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AFA55-B19E-45D5-B0DB-FED4142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00600"/>
            <a:ext cx="2514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实施 ≤ 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BB94B-3B60-4D45-868F-275BFE3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00600"/>
            <a:ext cx="1790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 / 研究 10—20%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2882E-173C-4714-9CE3-1B96DDCF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91150"/>
            <a:ext cx="114014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32DED-B70D-4E55-BDED-C3A30CF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9251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补助、比赛、基金和赞助只做加速器；不计ARR，不售卖数据，不依赖硬件差价。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B3AAE-8D97-47AF-8431-6D9D5DA2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内部报价区间必须通过客户访谈和正式采购范围验证，不作为当前市场事实。</a:t>
            </a:r>
          </a:p>
        </p:txBody>
      </p:sp>
    </p:spTree>
    <p:extLst>
      <p:ext uri="{BB962C8B-B14F-4D97-AF65-F5344CB8AC3E}">
        <p14:creationId xmlns:p14="http://schemas.microsoft.com/office/powerpoint/2010/main" val="14071600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3938C-762D-44A0-870B-3CDE0971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资源不是广撒网，而要串成“授权—试点—证据—复制”的链条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39497-0EA0-46A5-A346-C700C120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RESOURCES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58664-DCCB-469A-81DB-D45A2AD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80677-DE35-4D41-8457-8799E8B5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00200"/>
            <a:ext cx="2609850" cy="32194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D620C-ADB7-4BD5-8D94-5F4EE70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097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BNBU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0B1D7-B5A3-401C-8DDA-7F9E8339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4003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第一性场景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03218" y="2819400"/>
            <a:ext cx="219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DC16E-BBE1-4635-9820-FB0F23B7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067050"/>
            <a:ext cx="21907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数字体育研究中心
全人教育教师
创客中心 / 大创 / 基金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FD0A5-B32F-46F9-9375-867FF6E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318" y="28194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8E176-8352-4EDD-8D9C-6E76ACA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318" y="1600200"/>
            <a:ext cx="2609850" cy="32194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2986D-D1BD-4797-89A5-0DB2D80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68" y="18097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珠海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E25C9-76C2-436A-BD38-40BC515B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68" y="24003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样板与开放场景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517868" y="2819400"/>
            <a:ext cx="219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1F395-3473-4E98-A2CC-E237579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68" y="3067050"/>
            <a:ext cx="21907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2026应用场景创新条例
真实场馆试点
本地场景清单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F4A41-DF92-4D76-85BD-5F9D46E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968" y="28194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5280D-90A8-4284-B88B-B62878E3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968" y="1600200"/>
            <a:ext cx="2609850" cy="32194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94191-60E6-48D2-B728-7D498E24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18" y="18097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E9B72"/>
                </a:solidFill>
                <a:latin typeface="Microsoft YaHei"/>
                <a:ea typeface="Microsoft YaHei"/>
                <a:cs typeface="Microsoft YaHei"/>
              </a:defRPr>
            </a:pPr>
            <a:r>
              <a:t>大湾区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7C19E-59B0-4061-89C4-D0152D0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18" y="24003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产业与多校复制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432518" y="2819400"/>
            <a:ext cx="219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F6A9C-0106-476F-92B1-254FA7E0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18" y="3067050"/>
            <a:ext cx="21907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广州AI / 科研赛事
深圳传感器供应链
横琴跨境研究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A7035-3017-434D-9B0D-41A7DC7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18" y="28194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3CE37-E3F9-4BC4-9843-F700B88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18" y="1600200"/>
            <a:ext cx="2609850" cy="32194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BCE01-21FA-43AD-B250-2B18BB94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168" y="18097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38A2E"/>
                </a:solidFill>
                <a:latin typeface="Microsoft YaHei"/>
                <a:ea typeface="Microsoft YaHei"/>
                <a:cs typeface="Microsoft YaHei"/>
              </a:defRPr>
            </a:pPr>
            <a:r>
              <a:t>加州湾区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762DC3-427B-4778-B937-2EC7A339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168" y="24003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国际标杆与发现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9347168" y="2819400"/>
            <a:ext cx="219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6933B-8B34-4666-9C89-3A67066E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168" y="3067050"/>
            <a:ext cx="21907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UCB RecWell / EIM
I-Corps / CITRIS
SkyDeck / Humanmade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7FA07-19B0-41DA-AD19-1939EFD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05400"/>
            <a:ext cx="114014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13010-357C-42DA-A82A-A038D963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48275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先拿校内授权 → 再做珠海试点 → 用证据进入湾区 → 以加州做标杆、客户发现与创业网络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4B6BC9-D300-4F00-A1BD-123AD5F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加州资源均以资格和合作关系为前提，不暗示UCB等机构已合作；中国学生可识别数据原则上不跨境。</a:t>
            </a:r>
          </a:p>
        </p:txBody>
      </p:sp>
    </p:spTree>
    <p:extLst>
      <p:ext uri="{BB962C8B-B14F-4D97-AF65-F5344CB8AC3E}">
        <p14:creationId xmlns:p14="http://schemas.microsoft.com/office/powerpoint/2010/main" val="9174578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B5EB55-C2C0-4C01-AE5F-0FC56E74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未来七周存在一组可以立即行动的比赛、论坛与案例窗口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EAF2A-4E93-43C5-98D5-A61B521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WINDOWS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5EE9A-DBBC-4580-A8B9-B4839D0F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E763-02C5-4E90-874E-A74B9CB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1752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F73FD-D187-4756-AA85-8FD0801D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150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07-31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0AED2-D0A9-48C3-AC5B-F08C5F7E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954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广州“超级智能体”创新应用大赛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41960-7831-42D0-AF57-B6BAC6F6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954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AI + 体育 / 教育 / 治理；必须有可工作的智能体。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2457450" y="2105025"/>
            <a:ext cx="9067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3F0B6-343A-4BF9-86F5-7DFB636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76475"/>
            <a:ext cx="1752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6DCBF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6FB80-A0E0-4FF4-BD4B-E35BE808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150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08-03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84567-9323-44DB-8934-9088F9C1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336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第六届全民健身科学大会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DC067-403B-4BF5-B0C2-07E1553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数字赋能、学校联动、智慧场馆；用真实实施论文参会。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2457450" y="2943225"/>
            <a:ext cx="9067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2E046-28CA-422D-938E-7AE3A05E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14675"/>
            <a:ext cx="1752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E9B72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14A9B-25B3-41DC-8D8B-063369B5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150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08-10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EC387-9274-4AD1-BA20-80DBC884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全国青年体育科学学术会议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AD9AF-82B0-4D18-AAD9-FB4D05F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学校体育、主动健康、智能装备；适合教师带学生。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457450" y="3781425"/>
            <a:ext cx="9067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86276-C347-41EA-A171-694B0398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52875"/>
            <a:ext cx="1752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38A2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6D89D-FDE9-4AC9-98CF-0444DDA4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150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08-31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946CA-8A63-4331-8628-530377B4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智能体育典型案例地方推荐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D47FF-A021-4E4E-A190-7339CFFD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智慧校园 / 场馆 / 健康平台；要求真实成效与法人主体。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2457450" y="4619625"/>
            <a:ext cx="9067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4F776-DCEB-4FC4-805A-EC9B3E8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91075"/>
            <a:ext cx="1752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620C6-00D7-4C84-8F08-6ACF1F8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2525"/>
            <a:ext cx="150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07-20—08-21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FAE7D0-DF01-4E9C-90C4-1D5A9AF8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48225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Berkeley SkyDeck Batch 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B8969-B014-4E25-A560-3075270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482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成熟全球创业项目；选择性高，不等于资助到手。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2457450" y="5457825"/>
            <a:ext cx="9067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B8E12-3734-4860-B244-586B052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57850"/>
            <a:ext cx="114014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30D5E-2DEE-4040-BCB3-74F32266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95950"/>
            <a:ext cx="110204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下一赛季：三创赛 / 大创 / 挑战杯——先积累证据，再用赛事放大；不让比赛倒逼项目偏航。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57938-C003-4E5F-BB79-E99FCFB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时间以官方当年通知为准；资格、主体、学籍和地区要求须在提交前复核。</a:t>
            </a:r>
          </a:p>
        </p:txBody>
      </p:sp>
    </p:spTree>
    <p:extLst>
      <p:ext uri="{BB962C8B-B14F-4D97-AF65-F5344CB8AC3E}">
        <p14:creationId xmlns:p14="http://schemas.microsoft.com/office/powerpoint/2010/main" val="2140799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1E4CD4-1B45-47B3-A4DB-16140981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五年路线必须遵循“先证据、后复制，再跨场景”的顺序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0F45-93DE-4DA6-A7C8-E519122F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ROADMAP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8491F-3E9A-4C10-98C8-A42EE4DD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85800" y="3657600"/>
            <a:ext cx="108013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D1D51-3EF5-47DA-928D-71310728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2047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FE36F-62FE-4BE9-B9AA-BCBB15C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68" y="1695450"/>
            <a:ext cx="1743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0—3月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6A571-DBEA-4D39-9C59-1C5C1B9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68" y="2095500"/>
            <a:ext cx="17430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安全与样板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09BD1-FC65-42C4-ADFD-AE3C948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68" y="264795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3203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/ 同意
内容样板
活动入口
场馆数据试点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2656D-FF86-4748-9548-79B1760F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493" y="3514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9FA39-D720-45BF-B8F0-7B6A43D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18" y="40386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5DA68-65BE-4161-82E2-8E0D26D7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668" y="1504950"/>
            <a:ext cx="2047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268B9-7C42-431A-9629-A0837B46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068" y="1695450"/>
            <a:ext cx="1743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3—12月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4BF30-59B6-40EA-ACDD-4AFC7078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068" y="2095500"/>
            <a:ext cx="17430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BNBU证据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B7E2A-E471-4A1E-97E5-45EF80A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068" y="264795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3203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行为改善
场馆效率
首个预算Owner
校级报告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43736-25AA-45B2-B2A9-213FA4C9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493" y="3514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932AF-9CC6-4F98-AE5D-D23D5706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18" y="40386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51ADA-FEFD-4286-AAF3-3B87F0C0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668" y="1504950"/>
            <a:ext cx="2047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C3879-0120-4128-859D-A754645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068" y="1695450"/>
            <a:ext cx="1743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9B72"/>
                </a:solidFill>
                <a:latin typeface="Microsoft YaHei"/>
                <a:ea typeface="Microsoft YaHei"/>
                <a:cs typeface="Microsoft YaHei"/>
              </a:defRPr>
            </a:pPr>
            <a:r>
              <a:t>12—24月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DF919-4513-4BBD-96B9-229B2778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068" y="2095500"/>
            <a:ext cx="17430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湾区多校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D4201-A41A-407F-9A1B-5AAC1139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068" y="264795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3203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模块化交付
标准接口
第二校复用
续约证据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BDC7A-9BCD-40DE-95A2-D9C36E7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493" y="3514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4947E-EAA3-48CA-91BF-E067F5F4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918" y="40386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E9B72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E8055-111B-4CC9-B1E4-3D48D7A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668" y="1504950"/>
            <a:ext cx="2047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84CBF-621B-40C4-8BFC-005CEA4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068" y="1695450"/>
            <a:ext cx="1743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38A2E"/>
                </a:solidFill>
                <a:latin typeface="Microsoft YaHei"/>
                <a:ea typeface="Microsoft YaHei"/>
                <a:cs typeface="Microsoft YaHei"/>
              </a:defRPr>
            </a:pPr>
            <a:r>
              <a:t>24—36月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26466-C057-4FA0-8F89-EC7791AE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068" y="2095500"/>
            <a:ext cx="17430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公共场馆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4B8EC-6BC1-437A-8502-E6653DD0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068" y="264795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3203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珠海 / 广深
运营合作
场景案例
服务标准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DA7C6-8676-4804-AB6A-E7C5EE7D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493" y="3514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2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0E95A-B37F-419D-A023-4F2E2EC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918" y="40386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38A2E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71778-0C64-4743-AFC5-67ED0A75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668" y="1504950"/>
            <a:ext cx="2047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70CE57-C010-4481-9294-4D0ADFD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068" y="1695450"/>
            <a:ext cx="1743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36—60月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CB515-5049-48CE-A0B4-A3FC9923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068" y="2095500"/>
            <a:ext cx="17430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跨场景复制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24230E-6FA5-40A7-BDD6-C11100D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068" y="2647950"/>
            <a:ext cx="1743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3203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青少年 / 社区
职工主动健康
合规伙伴
区域网络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48BAE6-AE90-4A84-A8D4-679749C9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493" y="3514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3307F8-970A-47DD-A7D9-1CCEE2A8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18" y="40386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31C6A0-3205-440C-89BF-53D2EA7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86300"/>
            <a:ext cx="114014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41CE5-BAEF-4827-8BED-DCCACD4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A0A880-9C1C-43D4-B435-70C193E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67275"/>
            <a:ext cx="975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问题证据 → 产品证据 → 行为证据 → 科研证据 → 采购证据 → 复制证据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49EB2-4369-4774-9918-402EB473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9753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每跨一步，必须有新的真实数据、正式验收或预算承诺；没有证据就不扩张。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B5ED84-345D-49E8-8AAE-9B48680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国际连接贯穿各阶段，但仅使用匿名/聚合信息与非敏感材料进行标杆和客户发现。</a:t>
            </a:r>
          </a:p>
        </p:txBody>
      </p:sp>
    </p:spTree>
    <p:extLst>
      <p:ext uri="{BB962C8B-B14F-4D97-AF65-F5344CB8AC3E}">
        <p14:creationId xmlns:p14="http://schemas.microsoft.com/office/powerpoint/2010/main" val="7134084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C7D0D-9BC9-4572-8C95-21AA57DF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用自驱参与和付费续约检验方向，用 Kill Criteria 停止幻想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921CD-A8C6-46AD-A65D-D9189F2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METRICS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462DF-FB37-4355-8500-EFFFA44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8C085-EC2B-418D-93F9-CE8E5157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E74B-5321-4F69-B142-6017164A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北极星指标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81F79-44C6-4DB9-9AB8-04146B95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每周自驱活跃学生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57FBD-81C0-4927-8ACB-ACB2908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476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不是打卡总次数，而是非强制条件下仍持续使用内容、活动与场馆服务的学生。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D1B45-2DBE-46FB-B2F4-B95A9636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四组证据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2564F-E8CC-4CFE-95B8-98E812BF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4476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学生：参与 / 持续 / 自我效能
场馆：准确率 / 等待 / 投诉
知识：复用 / 更新 / 审核
商业：预算Owner / 续约 / 毛利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1E1D3-CE48-4A3E-91C5-73E3B037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5791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E8E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4D2F1-22FA-4869-A460-A143A58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t>Kill Criteria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C7005-6476-419D-A3A3-F9D4073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t>满足任一条件就缩减或停止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5E822-62B8-4FBF-A67C-7AF8E2E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953000" cy="217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01  连续两轮 8—12 周：自驱功能使用率 &lt; 15%—20%
02  12个月仍无预算Owner与正式采购路径
03  两轮传感器准确率 &lt; 85% 或在线率 &lt; 95%
04  少于3位教师持续更新且无法形成审核机制
05  研究伦理、运营隔离或数据治理无法成立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ABF1F-014B-4EA5-8E43-FDCD2553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791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5C5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BA9ED-227F-4D5F-8B8F-A0C2A16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5334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重大安全 / 隐私事件：立即冻结相关模块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B9803-AD1F-498C-A08B-303BFFAA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阈值是继续投入门槛，不是当前成绩；需在正式试点前由校方与研究团队共同校准。</a:t>
            </a:r>
          </a:p>
        </p:txBody>
      </p:sp>
    </p:spTree>
    <p:extLst>
      <p:ext uri="{BB962C8B-B14F-4D97-AF65-F5344CB8AC3E}">
        <p14:creationId xmlns:p14="http://schemas.microsoft.com/office/powerpoint/2010/main" val="5449069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9D456-3162-400D-A273-FAFE1A8C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0572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未来90天只做一件事：拿到一组学校愿意继续投入的真实证据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310FA-39FB-44DD-8BC4-515590EE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9429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ACTION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393668" y="1181100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17D47-C1E1-4E1F-96EC-0EF60C5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BNBU ACTIVE CAMPUS OS / 2026—2030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61EA1-0460-40A9-B6D3-7EAE5E02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8590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DDF3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30F52-7334-462A-8443-5C119CE5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859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7703A-24D7-43F0-9E3A-953AAA92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169545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1—30天｜授权与基线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258E5-69F8-4756-BE1A-8D8E8B3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8" y="2228850"/>
            <a:ext cx="31051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确认校级负责人、研究伦理、数据清单与基线指标；修复HTTPS与权限隐患。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1C69D-C356-41BD-83BC-9D417248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48590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A150A-924B-46BB-A164-CE630D45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87" y="14859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A31BD-85A4-4639-A3BF-75B1E953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169545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31—60天｜最小闭环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7237D-F0D5-4ECD-9BD4-C4E0C43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187" y="2228850"/>
            <a:ext cx="31051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上线教师内容样板、活力校园活动入口，以及两个场馆的可用状态数据。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0C687-FA7C-4834-884C-2D81C0C2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48590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3F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DC32A-EDC9-4645-A065-C0A250CB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05" y="14859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7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CC8A1-A0FB-4769-B2E8-5DA875E6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169545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61—90天｜证据与预算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05674-F7BA-4810-ACC5-54B30FC5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05" y="2228850"/>
            <a:ext cx="31051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完成真实试点、效果评估、案例报告、复盘会与下一阶段付费提案。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F408E-ACAD-4826-B39A-7504645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29050"/>
            <a:ext cx="114014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A5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0B2F1-02F2-4B9C-A060-1CA4E084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1085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最小成功：1个正式试点授权 + 1个可用学生闭环 + 1条合规研究路径 + 1位明确预算Owner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9C035-2FE7-4583-8F5C-A597664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14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FCF43-3A24-4257-9D86-129ADB8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14950"/>
            <a:ext cx="114014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t>从体育打卡工具 → 校园主动健康与体育治理数字底座 → 可复制的高校活力校园解决方案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45FBB-50D3-489D-966D-0A387861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107156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26C78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第一项可复制资产不是硬件或交易，而是“让校园更愿意运动”的方法。</a:t>
            </a:r>
          </a:p>
        </p:txBody>
      </p:sp>
    </p:spTree>
    <p:extLst>
      <p:ext uri="{BB962C8B-B14F-4D97-AF65-F5344CB8AC3E}">
        <p14:creationId xmlns:p14="http://schemas.microsoft.com/office/powerpoint/2010/main" val="20552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2026-07-15T01:31:35.9640000Z</dcterms:created>
  <dcterms:modified xsi:type="dcterms:W3CDTF">2026-07-15T01:31:35.9640000Z</dcterms:modified>
</coreProperties>
</file>